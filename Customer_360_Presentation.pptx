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6E77AA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bubble3D val="0"/>
            <c:spPr>
              <a:solidFill>
                <a:srgbClr val="84B59F"/>
              </a:solidFill>
              <a:effectLst/>
            </c:spPr>
          </c:dPt>
          <c:dPt>
            <c:idx val="4"/>
            <c:bubble3D val="0"/>
            <c:spPr>
              <a:solidFill>
                <a:srgbClr val="F2C879"/>
              </a:solidFill>
              <a:effectLst/>
            </c:spPr>
          </c:dPt>
          <c:dPt>
            <c:idx val="5"/>
            <c:bubble3D val="0"/>
            <c:spPr>
              <a:solidFill>
                <a:srgbClr val="97BC62"/>
              </a:solidFill>
              <a:effectLst/>
            </c:spPr>
          </c:dPt>
          <c:dPt>
            <c:idx val="6"/>
            <c:bubble3D val="0"/>
            <c:spPr>
              <a:solidFill>
                <a:srgbClr val="E76F5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Potential Loyalist</c:v>
                </c:pt>
                <c:pt idx="1">
                  <c:v>Lost</c:v>
                </c:pt>
                <c:pt idx="2">
                  <c:v>Champions</c:v>
                </c:pt>
                <c:pt idx="3">
                  <c:v>Needs Attention</c:v>
                </c:pt>
                <c:pt idx="4">
                  <c:v>New Customers</c:v>
                </c:pt>
                <c:pt idx="5">
                  <c:v>Loyal Customers</c:v>
                </c:pt>
                <c:pt idx="6">
                  <c:v>At Risk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19.7</c:v>
                </c:pt>
                <c:pt idx="1">
                  <c:v>15.6</c:v>
                </c:pt>
                <c:pt idx="2">
                  <c:v>15.1</c:v>
                </c:pt>
                <c:pt idx="3">
                  <c:v>12.6</c:v>
                </c:pt>
                <c:pt idx="4">
                  <c:v>13.1</c:v>
                </c:pt>
                <c:pt idx="5">
                  <c:v>12.4</c:v>
                </c:pt>
                <c:pt idx="6">
                  <c:v>11.6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B2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Jan23</c:v>
                  </c:pt>
                  <c:pt idx="1">
                    <c:v>Mar23</c:v>
                  </c:pt>
                  <c:pt idx="2">
                    <c:v>May23</c:v>
                  </c:pt>
                  <c:pt idx="3">
                    <c:v>Jul23</c:v>
                  </c:pt>
                  <c:pt idx="4">
                    <c:v>Sep23</c:v>
                  </c:pt>
                  <c:pt idx="5">
                    <c:v>Nov23</c:v>
                  </c:pt>
                  <c:pt idx="6">
                    <c:v>Jan24</c:v>
                  </c:pt>
                  <c:pt idx="7">
                    <c:v>Mar24</c:v>
                  </c:pt>
                  <c:pt idx="8">
                    <c:v>May24</c:v>
                  </c:pt>
                  <c:pt idx="9">
                    <c:v>Jul24</c:v>
                  </c:pt>
                  <c:pt idx="10">
                    <c:v>Sep24</c:v>
                  </c:pt>
                  <c:pt idx="11">
                    <c:v>Nov24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1166718</c:v>
                </c:pt>
                <c:pt idx="1">
                  <c:v>1128526</c:v>
                </c:pt>
                <c:pt idx="2">
                  <c:v>1120597</c:v>
                </c:pt>
                <c:pt idx="3">
                  <c:v>1164980</c:v>
                </c:pt>
                <c:pt idx="4">
                  <c:v>1162610</c:v>
                </c:pt>
                <c:pt idx="5">
                  <c:v>1128984</c:v>
                </c:pt>
                <c:pt idx="6">
                  <c:v>1172649</c:v>
                </c:pt>
                <c:pt idx="7">
                  <c:v>1182410</c:v>
                </c:pt>
                <c:pt idx="8">
                  <c:v>1155655</c:v>
                </c:pt>
                <c:pt idx="9">
                  <c:v>1190990</c:v>
                </c:pt>
                <c:pt idx="10">
                  <c:v>1146408</c:v>
                </c:pt>
                <c:pt idx="11">
                  <c:v>1101546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0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0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4114800" cy="4114800"/>
          </a:xfrm>
          <a:prstGeom prst="ellipse">
            <a:avLst/>
          </a:prstGeom>
          <a:solidFill>
            <a:srgbClr val="2027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EZITECH ENGINEERING FRAMEWORK  ·  CASE STUDY DS-001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9418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Customer 360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BI Platform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776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data from 5 business systems into a single customer view to reduce churn, grow lifetime value, and speed up executive reporting.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Customers Analyzed   |   5 Source Systems Integrated   |   Streamlit Executive Dashboard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Engineering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multinational retailer with 12M customers across 450 stores in 8 countries has no unified view of who its customers 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219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122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customer profile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68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trapped in 6 disconnected systems (CRM, ERP, POS, web, support, payments)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720840" y="22219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1122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customer lifetime value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468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identify which customers are actually worth retaining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5935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838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High, unmeasured churn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840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disappear with no early-warning signal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33375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720840" y="35935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4838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executive reporting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840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Excel work delays every strategic decision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230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12M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705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5230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3520440" y="5705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5230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5705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732520" y="5230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200M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5705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A 6-Stage Analytics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819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6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 &amp; merge 5 sources into one warehouse (DuckDB)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5819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6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6517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groups customers into 7 actionable segments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66760" y="15819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6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6517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CLV, churn flagging, retention &amp; repeat-purchase rates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1879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6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800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2578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trends, product/store performance, campaign ROI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89120" y="40233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7720" y="41879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6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800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Statistics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52578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hypothesis testing, forecasting, anomaly detection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40233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66760" y="41879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6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4800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52578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dashboard for leadership decision-making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(RFM Analysis)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scored on Recency, Frequency &amp; Monetary value (1-5) and grouped into 7 segments.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486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69164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7208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15.1%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22219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value — recent, frequent, big spenders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92240" y="310896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2084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11.6%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36393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past value, now inactive — urgent retention target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92240" y="452628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72084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0" y="4617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15.6%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50566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inactive, low value — low-cost re-engagement only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Value &amp; Churn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= Avg Order Value x Total Transactions. Customers inactive 60+ days are flagged Churned.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2630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7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40.4%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9659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2630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21945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4B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59.6%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2630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945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$5,496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9659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2630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26880" y="21945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99.98%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161C4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confirmed finding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5720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spend significantly more than churned customers (independent t-test, p &lt; 0.0001) — the difference is real, not chance. Retention is a revenue lever, not just an engagement metric.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2578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high-value outlier customers were also identified (2-2.5x average spend) — several already flagged At Risk and prioritized for immediate outreach.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Marketing Performance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(24 months)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5760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stable ($1.05M–$1.22M/month) with no single category, product or store dominating — a well-diversified, low-risk portfolio.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Conversion Funnel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0" y="1554480"/>
            <a:ext cx="3291840" cy="420624"/>
          </a:xfrm>
          <a:prstGeom prst="roundRect">
            <a:avLst>
              <a:gd name="adj" fmla="val 1087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12680" y="15544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 15,000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583680" y="2121408"/>
            <a:ext cx="1458943" cy="420624"/>
          </a:xfrm>
          <a:prstGeom prst="roundRect">
            <a:avLst>
              <a:gd name="adj" fmla="val 1087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12680" y="21214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 6,648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83680" y="2688336"/>
            <a:ext cx="589239" cy="420624"/>
          </a:xfrm>
          <a:prstGeom prst="roundRect">
            <a:avLst>
              <a:gd name="adj" fmla="val 10870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12680" y="268833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Clicked  2,685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0" y="3255264"/>
            <a:ext cx="320040" cy="420624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12680" y="325526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 902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campaign: “Eid Collection” — 7.16% conversion rate, highest of all 8 campaigns run.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0" y="448056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BF3D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12280" y="46451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812280" y="495604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and ROAS could not be calculated — the dataset has no campaign cost / ad-spend field. Documented rather than estimated, to keep every number in this deck verifiable.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Customer Value?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against Customer Lifetime Value (CLV)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08960" y="1655064"/>
            <a:ext cx="2275484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75884" y="1600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67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2221992"/>
            <a:ext cx="1641805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2205" y="2167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34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Cancelled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2788920"/>
            <a:ext cx="460858" cy="256032"/>
          </a:xfrm>
          <a:prstGeom prst="rect">
            <a:avLst/>
          </a:prstGeom>
          <a:solidFill>
            <a:srgbClr val="9AA4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61258" y="27340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3009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3355848"/>
            <a:ext cx="86411" cy="256032"/>
          </a:xfrm>
          <a:prstGeom prst="rect">
            <a:avLst/>
          </a:prstGeom>
          <a:solidFill>
            <a:srgbClr val="9AA4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86811" y="33009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67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3922776"/>
            <a:ext cx="57607" cy="25603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58007" y="3867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-0.02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(days)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4489704"/>
            <a:ext cx="662483" cy="25603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862883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1600200"/>
            <a:ext cx="498348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Statistical Findings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12280" y="238658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86600" y="227685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 and order size predict CLV — marketing engagement (opens, clicks, site visits) does not.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339242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86600" y="328269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 confirms Active customers out-spend Churned customers (p &lt; 0.0001).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12280" y="439826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086600" y="428853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revenue forecast built with Exponential Smoothing for planning.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12280" y="540410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86600" y="529437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anomaly detection flagged 41 high-value outlier customers for priority review.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Executive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Streamlit — KPIs, trends, segments, and searchable customer detail in one live view for leadership.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8105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$27.5M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8105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40.4%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641080" y="18105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$5,496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CLV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0632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chart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306324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30632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breakdown (donut)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55280" y="306324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30632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 (bar chart)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840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revenue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384048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0560" y="3840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table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55280" y="384048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38160" y="3840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performance table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617720"/>
            <a:ext cx="35204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617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customer detail table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locally:  python -m streamlit run app.py   →   opens at http://localhost:8501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533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retention campaign for the 41 high-value outlier customers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556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those already flagged At Risk — highest revenue-at-risk per dollar spent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4048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underperforming campaigns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072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“Loyalty Rewards” has the lowest conversion rate (5.32%); apply learnings from “Eid Collection” (7.16%)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5643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marketing cost data going forward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8587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unlock CAC and ROAS reporting in the next iteration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079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pipeline to the full 12M-customer base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9103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DuckDB warehouse and Streamlit dashboard are built to extend beyond this 5,000-customer sample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3A43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989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Customer 360 Analytics &amp; BI Platform  —  Case Study DS-001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2026-09-19T20:06:04Z</dcterms:created>
  <dcterms:modified xsi:type="dcterms:W3CDTF">2026-09-19T20:06:04Z</dcterms:modified>
</cp:coreProperties>
</file>